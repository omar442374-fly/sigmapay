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Performance Testing</a:t>
            </a:r>
          </a:p>
          <a:p>
            <a:r>
              <a:t>Reporting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Ammar - CSE352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A1956"/>
                </a:solidFill>
              </a:defRPr>
            </a:pPr>
            <a:r>
              <a:t>Assignment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sz="2400" b="1"/>
            </a:pPr>
            <a:r>
              <a:t>Target: P95 &lt; 200ms at 100 RPS</a:t>
            </a:r>
          </a:p>
          <a:p>
            <a:pPr>
              <a:spcAft>
                <a:spcPts val="1000"/>
              </a:spcAft>
              <a:defRPr sz="2200" b="1"/>
            </a:pPr>
            <a:r>
              <a:t>Components Tested:</a:t>
            </a:r>
          </a:p>
          <a:p>
            <a:pPr lvl="1">
              <a:defRPr sz="2000"/>
            </a:pPr>
            <a:r>
              <a:t>• Income Statement API</a:t>
            </a:r>
          </a:p>
          <a:p>
            <a:pPr lvl="1">
              <a:spcAft>
                <a:spcPts val="2000"/>
              </a:spcAft>
              <a:defRPr sz="2000"/>
            </a:pPr>
            <a:r>
              <a:t>• Monthly Summary API</a:t>
            </a:r>
          </a:p>
          <a:p>
            <a:pPr>
              <a:defRPr sz="2600" b="1">
                <a:solidFill>
                  <a:srgbClr val="008000"/>
                </a:solidFill>
              </a:defRPr>
            </a:pPr>
            <a:r>
              <a:t>Result: P95 = 3.64ms ✅</a:t>
            </a:r>
          </a:p>
          <a:p>
            <a:pPr>
              <a:defRPr sz="2000">
                <a:solidFill>
                  <a:srgbClr val="008000"/>
                </a:solidFill>
              </a:defRPr>
            </a:pPr>
            <a:r>
              <a:t>(98.2% faster than target)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A1956"/>
                </a:solidFill>
              </a:defRPr>
            </a:pPr>
            <a:r>
              <a:t>5 Low-Latency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500"/>
              </a:spcAft>
              <a:defRPr sz="2200" b="1">
                <a:solidFill>
                  <a:srgbClr val="2A1956"/>
                </a:solidFill>
              </a:defRPr>
            </a:pPr>
            <a:r>
              <a:t>1. Cache-Aside Pattern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99.8% hit rate, &lt; 2ms response</a:t>
            </a:r>
          </a:p>
          <a:p>
            <a:pPr>
              <a:spcAft>
                <a:spcPts val="500"/>
              </a:spcAft>
              <a:defRPr sz="2200" b="1">
                <a:solidFill>
                  <a:srgbClr val="2A1956"/>
                </a:solidFill>
              </a:defRPr>
            </a:pPr>
            <a:r>
              <a:t>2. Pre-aggregation Cache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80% faster on cache misses</a:t>
            </a:r>
          </a:p>
          <a:p>
            <a:pPr>
              <a:spcAft>
                <a:spcPts val="500"/>
              </a:spcAft>
              <a:defRPr sz="2200" b="1">
                <a:solidFill>
                  <a:srgbClr val="2A1956"/>
                </a:solidFill>
              </a:defRPr>
            </a:pPr>
            <a:r>
              <a:t>3. Facade Pattern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Unified reporting interface</a:t>
            </a:r>
          </a:p>
          <a:p>
            <a:pPr>
              <a:spcAft>
                <a:spcPts val="500"/>
              </a:spcAft>
              <a:defRPr sz="2200" b="1">
                <a:solidFill>
                  <a:srgbClr val="2A1956"/>
                </a:solidFill>
              </a:defRPr>
            </a:pPr>
            <a:r>
              <a:t>4. Flyweight Pattern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Shared immutable metadata</a:t>
            </a:r>
          </a:p>
          <a:p>
            <a:pPr>
              <a:spcAft>
                <a:spcPts val="500"/>
              </a:spcAft>
              <a:defRPr sz="2200" b="1">
                <a:solidFill>
                  <a:srgbClr val="2A1956"/>
                </a:solidFill>
              </a:defRPr>
            </a:pPr>
            <a:r>
              <a:t>5. Lazy Evaluation</a:t>
            </a:r>
          </a:p>
          <a:p>
            <a:pPr lvl="1"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Compute only when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A1956"/>
                </a:solidFill>
              </a:defRPr>
            </a:pPr>
            <a:r>
              <a:t>Performance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A1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A19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A195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P95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3.64ms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✅ 98.2% faster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Average</a:t>
                      </a:r>
                    </a:p>
                  </a:txBody>
                  <a:tcPr>
                    <a:solidFill>
                      <a:srgbClr val="F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1.65ms</a:t>
                      </a:r>
                    </a:p>
                  </a:txBody>
                  <a:tcPr>
                    <a:solidFill>
                      <a:srgbClr val="F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✅ 99.2% faster</a:t>
                      </a:r>
                    </a:p>
                  </a:txBody>
                  <a:tcPr>
                    <a:solidFill>
                      <a:srgbClr val="F0E6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Cache Hit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99.8%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✅ Excellent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Success Rate</a:t>
                      </a:r>
                    </a:p>
                  </a:txBody>
                  <a:tcPr>
                    <a:solidFill>
                      <a:srgbClr val="F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E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✅ Perfect</a:t>
                      </a:r>
                    </a:p>
                  </a:txBody>
                  <a:tcPr>
                    <a:solidFill>
                      <a:srgbClr val="F0E6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4,194 RPS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✅ 41× target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9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00"/>
                </a:solidFill>
              </a:defRPr>
            </a:pPr>
            <a:r>
              <a:t>Assignment Complete 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spcAft>
                <a:spcPts val="1500"/>
              </a:spcAft>
              <a:defRPr sz="2400">
                <a:solidFill>
                  <a:srgbClr val="FFFFFF"/>
                </a:solidFill>
              </a:defRPr>
            </a:pPr>
            <a:r>
              <a:t>✅ P95: 3.64ms (98.2% faster)</a:t>
            </a:r>
          </a:p>
          <a:p>
            <a:pPr algn="ctr">
              <a:spcAft>
                <a:spcPts val="1500"/>
              </a:spcAft>
              <a:defRPr sz="2400">
                <a:solidFill>
                  <a:srgbClr val="FFFFFF"/>
                </a:solidFill>
              </a:defRPr>
            </a:pPr>
            <a:r>
              <a:t>✅ 99.8% cache hit rate</a:t>
            </a:r>
          </a:p>
          <a:p>
            <a:pPr algn="ctr">
              <a:spcAft>
                <a:spcPts val="1500"/>
              </a:spcAft>
              <a:defRPr sz="2400">
                <a:solidFill>
                  <a:srgbClr val="FFFFFF"/>
                </a:solidFill>
              </a:defRPr>
            </a:pPr>
            <a:r>
              <a:t>✅ 100% success (251,756 requests)</a:t>
            </a:r>
          </a:p>
          <a:p>
            <a:pPr algn="ctr">
              <a:spcAft>
                <a:spcPts val="1500"/>
              </a:spcAft>
              <a:defRPr sz="2400">
                <a:solidFill>
                  <a:srgbClr val="FFFFFF"/>
                </a:solidFill>
              </a:defRPr>
            </a:pPr>
            <a:r>
              <a:t>✅ Production-ready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