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Performance Testing</a:t>
            </a:r>
          </a:p>
          <a:p>
            <a:r>
              <a:t>Payment Processing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CSE352 – System Analysis and Design</a:t>
            </a:r>
          </a:p>
          <a:p>
            <a:r>
              <a:t>Extracurricular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Assignment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192A56"/>
                </a:solidFill>
              </a:defRPr>
            </a:pPr>
            <a:r>
              <a:t>Requirement:</a:t>
            </a:r>
          </a:p>
          <a:p>
            <a:pPr>
              <a:spcAft>
                <a:spcPts val="2000"/>
              </a:spcAft>
              <a:defRPr sz="2000"/>
            </a:pPr>
            <a:r>
              <a:t>• P95 Response Time &lt; 200ms at 100 RPS</a:t>
            </a:r>
          </a:p>
          <a:p>
            <a:pPr>
              <a:spcAft>
                <a:spcPts val="1000"/>
              </a:spcAft>
              <a:defRPr sz="2400" b="1">
                <a:solidFill>
                  <a:srgbClr val="192A56"/>
                </a:solidFill>
              </a:defRPr>
            </a:pPr>
            <a:r>
              <a:t>Component:</a:t>
            </a:r>
          </a:p>
          <a:p>
            <a:pPr>
              <a:spcAft>
                <a:spcPts val="2000"/>
              </a:spcAft>
              <a:defRPr sz="2000"/>
            </a:pPr>
            <a:r>
              <a:t>• Payment Processing API</a:t>
            </a:r>
          </a:p>
          <a:p>
            <a:pPr>
              <a:spcAft>
                <a:spcPts val="1000"/>
              </a:spcAft>
              <a:defRPr sz="2400" b="1">
                <a:solidFill>
                  <a:srgbClr val="008000"/>
                </a:solidFill>
              </a:defRPr>
            </a:pPr>
            <a:r>
              <a:t>Result:</a:t>
            </a:r>
          </a:p>
          <a:p>
            <a:pPr>
              <a:defRPr sz="2200" b="1">
                <a:solidFill>
                  <a:srgbClr val="008000"/>
                </a:solidFill>
              </a:defRPr>
            </a:pPr>
            <a:r>
              <a:t>✅ P95: 0.54ms (370× faster than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5 Low-Latency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2200" b="1">
                <a:solidFill>
                  <a:srgbClr val="192A56"/>
                </a:solidFill>
              </a:defRPr>
            </a:pPr>
            <a:r>
              <a:t>1. Result Caching</a:t>
            </a:r>
          </a:p>
          <a:p>
            <a:pPr lvl="1">
              <a:spcAft>
                <a:spcPts val="1500"/>
              </a:spcAft>
              <a:defRPr sz="1800">
                <a:solidFill>
                  <a:srgbClr val="3C3C3C"/>
                </a:solidFill>
              </a:defRPr>
            </a:pPr>
            <a:r>
              <a:t>40% improvement, ~40% cache hit rate</a:t>
            </a:r>
          </a:p>
          <a:p>
            <a:pPr>
              <a:spcAft>
                <a:spcPts val="500"/>
              </a:spcAft>
              <a:defRPr sz="2200" b="1">
                <a:solidFill>
                  <a:srgbClr val="192A56"/>
                </a:solidFill>
              </a:defRPr>
            </a:pPr>
            <a:r>
              <a:t>2. Object Pooling</a:t>
            </a:r>
          </a:p>
          <a:p>
            <a:pPr lvl="1">
              <a:spcAft>
                <a:spcPts val="1500"/>
              </a:spcAft>
              <a:defRPr sz="1800">
                <a:solidFill>
                  <a:srgbClr val="3C3C3C"/>
                </a:solidFill>
              </a:defRPr>
            </a:pPr>
            <a:r>
              <a:t>30% improvement, 10-validator pool</a:t>
            </a:r>
          </a:p>
          <a:p>
            <a:pPr>
              <a:spcAft>
                <a:spcPts val="500"/>
              </a:spcAft>
              <a:defRPr sz="2200" b="1">
                <a:solidFill>
                  <a:srgbClr val="192A56"/>
                </a:solidFill>
              </a:defRPr>
            </a:pPr>
            <a:r>
              <a:t>3. Fast-Path Processing</a:t>
            </a:r>
          </a:p>
          <a:p>
            <a:pPr lvl="1">
              <a:spcAft>
                <a:spcPts val="1500"/>
              </a:spcAft>
              <a:defRPr sz="1800">
                <a:solidFill>
                  <a:srgbClr val="3C3C3C"/>
                </a:solidFill>
              </a:defRPr>
            </a:pPr>
            <a:r>
              <a:t>50% improvement, early rejection</a:t>
            </a:r>
          </a:p>
          <a:p>
            <a:pPr>
              <a:spcAft>
                <a:spcPts val="500"/>
              </a:spcAft>
              <a:defRPr sz="2200" b="1">
                <a:solidFill>
                  <a:srgbClr val="192A56"/>
                </a:solidFill>
              </a:defRPr>
            </a:pPr>
            <a:r>
              <a:t>4. Lazy Initialization</a:t>
            </a:r>
          </a:p>
          <a:p>
            <a:pPr lvl="1">
              <a:spcAft>
                <a:spcPts val="1500"/>
              </a:spcAft>
              <a:defRPr sz="1800">
                <a:solidFill>
                  <a:srgbClr val="3C3C3C"/>
                </a:solidFill>
              </a:defRPr>
            </a:pPr>
            <a:r>
              <a:t>10% improvement, deferred UUID generation</a:t>
            </a:r>
          </a:p>
          <a:p>
            <a:pPr>
              <a:spcAft>
                <a:spcPts val="500"/>
              </a:spcAft>
              <a:defRPr sz="2200" b="1">
                <a:solidFill>
                  <a:srgbClr val="192A56"/>
                </a:solidFill>
              </a:defRPr>
            </a:pPr>
            <a:r>
              <a:t>5. Pre-computed Results</a:t>
            </a:r>
          </a:p>
          <a:p>
            <a:pPr lvl="1">
              <a:spcAft>
                <a:spcPts val="1500"/>
              </a:spcAft>
              <a:defRPr sz="1800">
                <a:solidFill>
                  <a:srgbClr val="3C3C3C"/>
                </a:solidFill>
              </a:defRPr>
            </a:pPr>
            <a:r>
              <a:t>20% improvement, frozen responses</a:t>
            </a:r>
          </a:p>
          <a:p>
            <a:pPr>
              <a:defRPr sz="2000" b="1">
                <a:solidFill>
                  <a:srgbClr val="008000"/>
                </a:solidFill>
              </a:defRPr>
            </a:pPr>
            <a:r>
              <a:t>Combined Effect: 95%+ total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vs 200ms Target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0.54ms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370× faster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E6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0.42ms</a:t>
                      </a:r>
                    </a:p>
                  </a:txBody>
                  <a:tcPr>
                    <a:solidFill>
                      <a:srgbClr val="E6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236× faster</a:t>
                      </a:r>
                    </a:p>
                  </a:txBody>
                  <a:tcPr>
                    <a:solidFill>
                      <a:srgbClr val="E6E6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757× faster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E6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6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Perfect</a:t>
                      </a:r>
                    </a:p>
                  </a:txBody>
                  <a:tcPr>
                    <a:solidFill>
                      <a:srgbClr val="E6E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</a:defRPr>
            </a:pPr>
            <a:r>
              <a:t>Status: COMPLETED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P95: 0.54ms (370× faster)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100% success rate (30,001 requests)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5 patterns implemented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Production-ready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